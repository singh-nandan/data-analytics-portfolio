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63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5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295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625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490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262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971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02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5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659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0905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128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9656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582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9666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107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EC7D1-7088-4346-823A-6A745CE23442}" type="datetimeFigureOut">
              <a:rPr lang="en-IN" smtClean="0"/>
              <a:t>26-04-2026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F6D60EF-D29B-452A-A157-B515820C3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9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890"/>
            <a:ext cx="9000931" cy="510494"/>
          </a:xfrm>
        </p:spPr>
        <p:txBody>
          <a:bodyPr>
            <a:normAutofit fontScale="90000"/>
          </a:bodyPr>
          <a:lstStyle/>
          <a:p>
            <a:r>
              <a:rPr lang="en-IN" sz="4000" b="1" u="sng" dirty="0" smtClean="0">
                <a:solidFill>
                  <a:schemeClr val="tx2"/>
                </a:solidFill>
              </a:rPr>
              <a:t>Exploratory Data Analysis (EDA)</a:t>
            </a:r>
            <a:endParaRPr lang="en-IN" sz="4000" b="1" u="sng" dirty="0">
              <a:solidFill>
                <a:schemeClr val="tx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2465" y="5553110"/>
            <a:ext cx="9144000" cy="1099618"/>
          </a:xfrm>
        </p:spPr>
        <p:txBody>
          <a:bodyPr>
            <a:normAutofit fontScale="77500" lnSpcReduction="20000"/>
          </a:bodyPr>
          <a:lstStyle/>
          <a:p>
            <a:pPr marL="285750" indent="-285750" algn="l">
              <a:buFontTx/>
              <a:buChar char="-"/>
            </a:pPr>
            <a:r>
              <a:rPr lang="en-US" sz="1600" dirty="0" smtClean="0"/>
              <a:t>Most customers fall between ages 25 and 45, indicating a younger demographic base.</a:t>
            </a:r>
          </a:p>
          <a:p>
            <a:pPr marL="285750" indent="-285750" algn="l">
              <a:buFontTx/>
              <a:buChar char="-"/>
            </a:pPr>
            <a:r>
              <a:rPr lang="en-US" sz="1600" dirty="0" smtClean="0"/>
              <a:t>There is a gradual decline in customer count beyond age 50, suggesting fewer older customers in the dataset.</a:t>
            </a:r>
          </a:p>
          <a:p>
            <a:pPr marL="285750" indent="-285750" algn="l">
              <a:buFontTx/>
              <a:buChar char="-"/>
            </a:pPr>
            <a:r>
              <a:rPr lang="en-US" sz="1600" dirty="0" smtClean="0"/>
              <a:t>The KDE curve provides a smooth estimate of the probability density, confirming that the distribution is slightly right-skewed.</a:t>
            </a:r>
            <a:endParaRPr lang="en-IN" sz="1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4" y="875682"/>
            <a:ext cx="6516009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55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690465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chemeClr val="accent5"/>
                </a:solidFill>
              </a:rPr>
              <a:t>Customer Count by Gender</a:t>
            </a: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5" t="2055" r="7525" b="3115"/>
          <a:stretch/>
        </p:blipFill>
        <p:spPr>
          <a:xfrm>
            <a:off x="4851918" y="668693"/>
            <a:ext cx="7053944" cy="546151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670180"/>
            <a:ext cx="3932237" cy="4198808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dirty="0" smtClean="0"/>
              <a:t>The distribution is relatively balanced among Male, Female, and Not Disclosed groups, each contributing close to one-third of the customer base.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This balance suggests that the dataset is diverse and not heavily skewed toward one gender.- The presence of a significant "Not Disclosed" group highlights that some customers prefer not to reveal gender information, which is important for respecting privacy in segmentation.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83820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13184"/>
          </a:xfrm>
        </p:spPr>
        <p:txBody>
          <a:bodyPr>
            <a:normAutofit/>
          </a:bodyPr>
          <a:lstStyle/>
          <a:p>
            <a:r>
              <a:rPr lang="en-IN" sz="2000" b="1" dirty="0" smtClean="0">
                <a:solidFill>
                  <a:schemeClr val="accent1"/>
                </a:solidFill>
              </a:rPr>
              <a:t>Customer Count by City</a:t>
            </a:r>
            <a:endParaRPr lang="en-IN" sz="2000" b="1" dirty="0">
              <a:solidFill>
                <a:schemeClr val="accent1"/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4" t="-1882" r="3667" b="-1120"/>
          <a:stretch/>
        </p:blipFill>
        <p:spPr>
          <a:xfrm>
            <a:off x="5024534" y="773113"/>
            <a:ext cx="6727372" cy="5019869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268963"/>
            <a:ext cx="3932237" cy="460002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Jaipur</a:t>
            </a:r>
            <a:r>
              <a:rPr lang="en-US" dirty="0"/>
              <a:t> has the highest customer count, slightly above 110, indicating strong market presence in that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Kolkata</a:t>
            </a:r>
            <a:r>
              <a:rPr lang="en-US" dirty="0"/>
              <a:t> and </a:t>
            </a:r>
            <a:r>
              <a:rPr lang="en-US" b="1" dirty="0"/>
              <a:t>Chennai</a:t>
            </a:r>
            <a:r>
              <a:rPr lang="en-US" dirty="0"/>
              <a:t> have the lowest counts, around 90, suggesting smaller customer bases compared to other cities.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cities such as Delhi, Pune, Hyderabad, and Mumbai show moderate representation, each contributing significantly to the overall dataset.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-6349365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**Insights:** - Each variable is perfectly correlated with itself (correlation = 1). - The correlation between **Age** and **NumChildren** is **-0.04**, indicating a very weak negative relationship. - This suggests that as age increases, the number of children tends to decrease slightly, but the relationship is not strong enough to be statistically meaningful.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52400" y="152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-63341250" y="6096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**Insights:** - Each variable is perfectly correlated with itself (correlation = 1). - The correlation between **Age** and **NumChildren** is **-0.04**, indicating a very weak negative relationship. - This suggests that as age increases, the number of children tends to decrease slightly, but the relationship is not strong enough to be statistically meaningful.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304800" y="304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1" name="Rectangle 6"/>
          <p:cNvSpPr>
            <a:spLocks noChangeArrowheads="1"/>
          </p:cNvSpPr>
          <p:nvPr/>
        </p:nvSpPr>
        <p:spPr bwMode="auto">
          <a:xfrm>
            <a:off x="-63188850" y="762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**Insights:** - Each variable is perfectly correlated with itself (correlation = 1). - The correlation between **Age** and **NumChildren** is **-0.04**, indicating a very weak negative relationship. - This suggests that as age increases, the number of children tends to decrease slightly, but the relationship is not strong enough to be statistically meaningful.</a:t>
            </a: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60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615820"/>
          </a:xfrm>
        </p:spPr>
        <p:txBody>
          <a:bodyPr>
            <a:normAutofit/>
          </a:bodyPr>
          <a:lstStyle/>
          <a:p>
            <a:r>
              <a:rPr lang="en-IN" sz="2000" b="1" dirty="0" smtClean="0">
                <a:solidFill>
                  <a:schemeClr val="accent1"/>
                </a:solidFill>
              </a:rPr>
              <a:t>Correlation </a:t>
            </a:r>
            <a:r>
              <a:rPr lang="en-IN" sz="2000" b="1" dirty="0" err="1" smtClean="0">
                <a:solidFill>
                  <a:schemeClr val="accent1"/>
                </a:solidFill>
              </a:rPr>
              <a:t>Heatmap</a:t>
            </a:r>
            <a:endParaRPr lang="en-IN" sz="2000" b="1" dirty="0">
              <a:solidFill>
                <a:schemeClr val="accent1"/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" r="599"/>
          <a:stretch/>
        </p:blipFill>
        <p:spPr>
          <a:xfrm>
            <a:off x="4963885" y="987425"/>
            <a:ext cx="6578081" cy="487362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660849"/>
            <a:ext cx="3932237" cy="4208139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variable is perfectly correlated with itself (correlation = 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correlation between </a:t>
            </a:r>
            <a:r>
              <a:rPr lang="en-US" b="1" dirty="0"/>
              <a:t>Age</a:t>
            </a:r>
            <a:r>
              <a:rPr lang="en-US" dirty="0"/>
              <a:t> and </a:t>
            </a:r>
            <a:r>
              <a:rPr lang="en-US" b="1" dirty="0" err="1"/>
              <a:t>NumChildren</a:t>
            </a:r>
            <a:r>
              <a:rPr lang="en-US" dirty="0"/>
              <a:t> is </a:t>
            </a:r>
            <a:r>
              <a:rPr lang="en-US" b="1" dirty="0"/>
              <a:t>-0.04</a:t>
            </a:r>
            <a:r>
              <a:rPr lang="en-US" dirty="0"/>
              <a:t>, indicating a very weak negative relationship.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suggests that as age increases, the number of children tends to decrease slightly, but the relationship is not strong enough to be statistically meaningful.</a:t>
            </a:r>
          </a:p>
        </p:txBody>
      </p:sp>
    </p:spTree>
    <p:extLst>
      <p:ext uri="{BB962C8B-B14F-4D97-AF65-F5344CB8AC3E}">
        <p14:creationId xmlns:p14="http://schemas.microsoft.com/office/powerpoint/2010/main" val="170854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8163"/>
          </a:xfrm>
        </p:spPr>
        <p:txBody>
          <a:bodyPr>
            <a:normAutofit fontScale="90000"/>
          </a:bodyPr>
          <a:lstStyle/>
          <a:p>
            <a:r>
              <a:rPr lang="en-IN" sz="2000" b="1" dirty="0" smtClean="0">
                <a:solidFill>
                  <a:schemeClr val="accent1"/>
                </a:solidFill>
              </a:rPr>
              <a:t>Transaction Amount Distribution</a:t>
            </a:r>
            <a:endParaRPr lang="en-IN" sz="2000" b="1" dirty="0">
              <a:solidFill>
                <a:schemeClr val="accent1"/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170" t="2297" r="2909" b="-2297"/>
          <a:stretch/>
        </p:blipFill>
        <p:spPr>
          <a:xfrm>
            <a:off x="4488023" y="1099392"/>
            <a:ext cx="7380515" cy="487362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7" y="1450910"/>
            <a:ext cx="3932237" cy="512717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distribution is </a:t>
            </a:r>
            <a:r>
              <a:rPr lang="en-US" b="1" dirty="0"/>
              <a:t>right-skewed</a:t>
            </a:r>
            <a:r>
              <a:rPr lang="en-US" dirty="0"/>
              <a:t>: most transactions are below 1,000, while a few extend up to ~7,000.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 </a:t>
            </a:r>
            <a:r>
              <a:rPr lang="en-US" dirty="0"/>
              <a:t>large cluster of transactions falls between 500–1,300, indicating typical spending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High-value outliers exist, but they are rare compared to the bulk of transactions.</a:t>
            </a:r>
          </a:p>
        </p:txBody>
      </p:sp>
    </p:spTree>
    <p:extLst>
      <p:ext uri="{BB962C8B-B14F-4D97-AF65-F5344CB8AC3E}">
        <p14:creationId xmlns:p14="http://schemas.microsoft.com/office/powerpoint/2010/main" val="2482377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30225"/>
          </a:xfrm>
        </p:spPr>
        <p:txBody>
          <a:bodyPr>
            <a:normAutofit/>
          </a:bodyPr>
          <a:lstStyle/>
          <a:p>
            <a:r>
              <a:rPr lang="en-IN" sz="2000" b="1" dirty="0" smtClean="0">
                <a:solidFill>
                  <a:schemeClr val="accent1"/>
                </a:solidFill>
              </a:rPr>
              <a:t>Monthly Sales Trend</a:t>
            </a:r>
            <a:endParaRPr lang="en-IN" sz="2000" b="1" dirty="0">
              <a:solidFill>
                <a:schemeClr val="accent1"/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31" b="2031"/>
          <a:stretch/>
        </p:blipFill>
        <p:spPr>
          <a:xfrm>
            <a:off x="4506686" y="1188916"/>
            <a:ext cx="7371185" cy="384571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449" y="1188916"/>
            <a:ext cx="3932237" cy="484262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Overall Growth</a:t>
            </a:r>
            <a:r>
              <a:rPr lang="en-US" dirty="0"/>
              <a:t>: There is a clear upward trend in monthly sales, reflecting consistent business growth over the 5-year period.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Seasonality</a:t>
            </a:r>
            <a:r>
              <a:rPr lang="en-US" dirty="0"/>
              <a:t>: Fluctuations are visible around 2024–2025, suggesting possible seasonal effects or promotional campaigns driving spikes in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Stability</a:t>
            </a:r>
            <a:r>
              <a:rPr lang="en-US" dirty="0"/>
              <a:t>: From 2020 through 2023, growth appears steady and gradual, indicating a stable customer base and reliable transaction flow.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Acceleration</a:t>
            </a:r>
            <a:r>
              <a:rPr lang="en-US" dirty="0"/>
              <a:t>: The higher peaks in later years highlight increased customer engagement and potentially larger transaction values.</a:t>
            </a:r>
          </a:p>
        </p:txBody>
      </p:sp>
    </p:spTree>
    <p:extLst>
      <p:ext uri="{BB962C8B-B14F-4D97-AF65-F5344CB8AC3E}">
        <p14:creationId xmlns:p14="http://schemas.microsoft.com/office/powerpoint/2010/main" val="141855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723" y="243405"/>
            <a:ext cx="5882086" cy="566738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Customers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Insights &amp; Sales Trends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" t="766" r="1659" b="-766"/>
          <a:stretch/>
        </p:blipFill>
        <p:spPr>
          <a:xfrm>
            <a:off x="4935893" y="810143"/>
            <a:ext cx="7147249" cy="48736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1147665"/>
            <a:ext cx="4099939" cy="4893697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Top City:</a:t>
            </a:r>
            <a:r>
              <a:rPr lang="en-US" dirty="0"/>
              <a:t> Jaipur leads with over 110 customers, indicating strong regional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Gender Split:</a:t>
            </a:r>
            <a:r>
              <a:rPr lang="en-US" dirty="0"/>
              <a:t> Balanced representation between male and female customers, showing inclusive market 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Typical Spend:</a:t>
            </a:r>
            <a:r>
              <a:rPr lang="en-US" dirty="0"/>
              <a:t> Most customers spend between ₹500–₹1,300, suggesting mid-range purchasing behavior.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5-Year Growth:</a:t>
            </a:r>
            <a:r>
              <a:rPr lang="en-US" dirty="0"/>
              <a:t> Steady upward trend, reflecting consistent business expansion.</a:t>
            </a:r>
          </a:p>
        </p:txBody>
      </p:sp>
    </p:spTree>
    <p:extLst>
      <p:ext uri="{BB962C8B-B14F-4D97-AF65-F5344CB8AC3E}">
        <p14:creationId xmlns:p14="http://schemas.microsoft.com/office/powerpoint/2010/main" val="86997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15412"/>
            <a:ext cx="10515600" cy="4572000"/>
          </a:xfrm>
        </p:spPr>
        <p:txBody>
          <a:bodyPr>
            <a:normAutofit/>
          </a:bodyPr>
          <a:lstStyle/>
          <a:p>
            <a:pPr algn="ctr"/>
            <a:r>
              <a:rPr lang="en-IN" sz="8000" b="1" dirty="0">
                <a:solidFill>
                  <a:schemeClr val="accent1">
                    <a:lumMod val="50000"/>
                  </a:schemeClr>
                </a:solidFill>
              </a:rPr>
              <a:t>RFM visualizations</a:t>
            </a: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559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35902"/>
            <a:ext cx="10515600" cy="108235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Count of customers per segment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027" y="1586205"/>
            <a:ext cx="7369201" cy="435133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0480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05069"/>
            <a:ext cx="10515600" cy="78561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Count of customers per segment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Potential </a:t>
            </a:r>
            <a:r>
              <a:rPr lang="en-US" b="1" dirty="0"/>
              <a:t>Loyalists (252 customers)</a:t>
            </a:r>
            <a:r>
              <a:rPr lang="en-US" dirty="0"/>
              <a:t> form the largest group, indicating many customers show promising buying behavior but need nurturing to become fully loyal.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At Risk (207 customers)</a:t>
            </a:r>
            <a:r>
              <a:rPr lang="en-US" dirty="0"/>
              <a:t> is the second largest segment, highlighting a significant portion of customers who have reduced engagement and may churn if not reactivated.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Others (181 customers)</a:t>
            </a:r>
            <a:r>
              <a:rPr lang="en-US" dirty="0"/>
              <a:t> represent a mixed group with moderate activity, requiring further profiling to design targeted strategies.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Loyal Customers (122 customers)</a:t>
            </a:r>
            <a:r>
              <a:rPr lang="en-US" dirty="0"/>
              <a:t> demonstrate consistent purchasing patterns and should be rewarded to maintain retention.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Lost (105 customers)</a:t>
            </a:r>
            <a:r>
              <a:rPr lang="en-US" dirty="0"/>
              <a:t> are inactive customers who may need win-back campaigns or can be deprioritized depending on business goals.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Big Spenders (98 customers)</a:t>
            </a:r>
            <a:r>
              <a:rPr lang="en-US" dirty="0"/>
              <a:t> contribute high monetary value despite lower frequency, making them important for premium offers.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Champions (35 customers)</a:t>
            </a:r>
            <a:r>
              <a:rPr lang="en-US" dirty="0"/>
              <a:t> are the most valuable segment, combining high </a:t>
            </a:r>
            <a:r>
              <a:rPr lang="en-US" dirty="0" err="1"/>
              <a:t>recency</a:t>
            </a:r>
            <a:r>
              <a:rPr lang="en-US" dirty="0"/>
              <a:t>, frequency, and monetary scores. They should be prioritized for loyalty programs and advocacy initiatives.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Insight:</a:t>
            </a: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The distribution shows that while the business has a strong base of </a:t>
            </a:r>
            <a:r>
              <a:rPr lang="en-US" b="1" i="1" dirty="0"/>
              <a:t>Potential Loyalists</a:t>
            </a:r>
            <a:r>
              <a:rPr lang="en-US" b="1" dirty="0"/>
              <a:t>, the high count of </a:t>
            </a:r>
            <a:r>
              <a:rPr lang="en-US" b="1" i="1" dirty="0"/>
              <a:t>At Risk</a:t>
            </a:r>
            <a:r>
              <a:rPr lang="en-US" b="1" dirty="0"/>
              <a:t> customers signals a need for proactive engagement strategies. Focusing on converting </a:t>
            </a:r>
            <a:r>
              <a:rPr lang="en-US" b="1" i="1" dirty="0"/>
              <a:t>Potential Loyalists</a:t>
            </a:r>
            <a:r>
              <a:rPr lang="en-US" b="1" dirty="0"/>
              <a:t> into </a:t>
            </a:r>
            <a:r>
              <a:rPr lang="en-US" b="1" i="1" dirty="0"/>
              <a:t>Loyal Customers</a:t>
            </a:r>
            <a:r>
              <a:rPr lang="en-US" b="1" dirty="0"/>
              <a:t> and retaining </a:t>
            </a:r>
            <a:r>
              <a:rPr lang="en-US" b="1" i="1" dirty="0"/>
              <a:t>Champions</a:t>
            </a:r>
            <a:r>
              <a:rPr lang="en-US" b="1" dirty="0"/>
              <a:t> will maximize long-term revenue and customer lifetime value.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5748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Customer Segmentation Distribution (Donut Chart Analysis)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941" y="1769752"/>
            <a:ext cx="4950883" cy="44072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665051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Customer Segmentation Distribution (Donut Chart Analysis)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+mj-lt"/>
              <a:buAutoNum type="arabicPeriod"/>
            </a:pPr>
            <a:r>
              <a:rPr lang="en-US" sz="1400" b="1" dirty="0"/>
              <a:t>Potential Loyalists (25.2%)</a:t>
            </a:r>
            <a:r>
              <a:rPr lang="en-US" sz="1400" dirty="0"/>
              <a:t> form the largest share, showing strong potential for conversion into loyal customers with targeted engagement.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At Risk (20.7%)</a:t>
            </a:r>
            <a:r>
              <a:rPr lang="en-US" sz="1400" dirty="0"/>
              <a:t> is the second largest group, signaling a significant churn risk. These customers require reactivation campaigns to prevent revenue loss.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Others (18.1%)</a:t>
            </a:r>
            <a:r>
              <a:rPr lang="en-US" sz="1400" dirty="0"/>
              <a:t> represent a mixed category with moderate engagement. Further profiling can help design tailored strategies.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Loyal Customers (12.2%)</a:t>
            </a:r>
            <a:r>
              <a:rPr lang="en-US" sz="1400" dirty="0"/>
              <a:t> consistently engage with the business. They should be nurtured with rewards and retention programs.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Lost (10.5%)</a:t>
            </a:r>
            <a:r>
              <a:rPr lang="en-US" sz="1400" dirty="0"/>
              <a:t> are inactive customers. Win-back campaigns may be attempted, but prioritization depends on ROI.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Big Spenders (9.8%)</a:t>
            </a:r>
            <a:r>
              <a:rPr lang="en-US" sz="1400" dirty="0"/>
              <a:t> contribute high monetary value despite lower frequency. Premium offers and personalized experiences can maximize their lifetime value.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Champions (3.5%)</a:t>
            </a:r>
            <a:r>
              <a:rPr lang="en-US" sz="1400" dirty="0"/>
              <a:t> are the most valuable customers, combining high </a:t>
            </a:r>
            <a:r>
              <a:rPr lang="en-US" sz="1400" dirty="0" err="1"/>
              <a:t>recency</a:t>
            </a:r>
            <a:r>
              <a:rPr lang="en-US" sz="1400" dirty="0"/>
              <a:t>, frequency, and monetary scores. They should be prioritized for loyalty programs, advocacy, and exclusive benefits</a:t>
            </a:r>
            <a:r>
              <a:rPr lang="en-US" sz="1400" dirty="0" smtClean="0"/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</a:rPr>
              <a:t>Strategic Takeaway:</a:t>
            </a:r>
            <a:r>
              <a:rPr lang="en-US" sz="1400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sz="14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400" dirty="0"/>
              <a:t>The distribution highlights two critical priorities: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b="1" dirty="0"/>
              <a:t>Retention</a:t>
            </a:r>
            <a:r>
              <a:rPr lang="en-US" sz="1400" dirty="0"/>
              <a:t> — Address the large </a:t>
            </a:r>
            <a:r>
              <a:rPr lang="en-US" sz="1400" i="1" dirty="0"/>
              <a:t>At Risk</a:t>
            </a:r>
            <a:r>
              <a:rPr lang="en-US" sz="1400" dirty="0"/>
              <a:t> segment to reduce churn.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b="1" dirty="0"/>
              <a:t>Growth</a:t>
            </a:r>
            <a:r>
              <a:rPr lang="en-US" sz="1400" dirty="0"/>
              <a:t> — Convert </a:t>
            </a:r>
            <a:r>
              <a:rPr lang="en-US" sz="1400" i="1" dirty="0"/>
              <a:t>Potential Loyalists</a:t>
            </a:r>
            <a:r>
              <a:rPr lang="en-US" sz="1400" dirty="0"/>
              <a:t> into </a:t>
            </a:r>
            <a:r>
              <a:rPr lang="en-US" sz="1400" i="1" dirty="0"/>
              <a:t>Loyal Customers</a:t>
            </a:r>
            <a:r>
              <a:rPr lang="en-US" sz="1400" dirty="0"/>
              <a:t> to strengthen the core base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87207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Revenue contribution per segment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677" y="2160588"/>
            <a:ext cx="6692683" cy="38814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46555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Revenue contribution per segment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At Risk (₹5.36M)</a:t>
            </a:r>
            <a:r>
              <a:rPr lang="en-US" sz="1600" dirty="0"/>
              <a:t> contributes the highest share of revenue, despite their declining engagement. This indicates that many high-value customers are at risk of churn, making retention efforts critical.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Potential Loyalists (₹5.09M)</a:t>
            </a:r>
            <a:r>
              <a:rPr lang="en-US" sz="1600" dirty="0"/>
              <a:t> are the second-largest revenue drivers. With proper nurturing, they can be converted into Loyal Customers, strengthening the long-term revenue base.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Others (₹3.40M)</a:t>
            </a:r>
            <a:r>
              <a:rPr lang="en-US" sz="1600" dirty="0"/>
              <a:t> and </a:t>
            </a:r>
            <a:r>
              <a:rPr lang="en-US" sz="1600" b="1" dirty="0"/>
              <a:t>Loyal Customers (₹3.30M)</a:t>
            </a:r>
            <a:r>
              <a:rPr lang="en-US" sz="1600" dirty="0"/>
              <a:t> contribute moderate revenue. Loyal Customers should be rewarded to maintain retention, while Others may need further profiling for targeted strategies.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Big Spenders (₹2.79M)</a:t>
            </a:r>
            <a:r>
              <a:rPr lang="en-US" sz="1600" dirty="0"/>
              <a:t> generate significant revenue despite lower frequency. Personalized premium offers can maximize their lifetime value.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Lost (₹2.02M)</a:t>
            </a:r>
            <a:r>
              <a:rPr lang="en-US" sz="1600" dirty="0"/>
              <a:t> still represent a notable revenue pool. Win-back campaigns may recover some value, though ROI should be carefully assessed.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Champions (₹1.10M)</a:t>
            </a:r>
            <a:r>
              <a:rPr lang="en-US" sz="1600" dirty="0"/>
              <a:t>, while the smallest group in count, remain strategically important due to their consistent high-value behavior. They should be prioritized for loyalty programs and advocacy initiatives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r>
              <a:rPr lang="en-US" sz="21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Strategic Takeaway:</a:t>
            </a:r>
            <a:r>
              <a:rPr lang="en-US" sz="21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/>
            </a:r>
            <a:br>
              <a:rPr lang="en-US" sz="2100" dirty="0">
                <a:solidFill>
                  <a:schemeClr val="accent1">
                    <a:lumMod val="50000"/>
                  </a:schemeClr>
                </a:solidFill>
                <a:latin typeface="+mj-lt"/>
              </a:rPr>
            </a:br>
            <a:r>
              <a:rPr lang="en-US" sz="2100" dirty="0">
                <a:latin typeface="+mj-lt"/>
              </a:rPr>
              <a:t>The analysis shows that the business is heavily dependent on </a:t>
            </a:r>
            <a:r>
              <a:rPr lang="en-US" sz="2100" i="1" dirty="0">
                <a:latin typeface="+mj-lt"/>
              </a:rPr>
              <a:t>At Risk</a:t>
            </a:r>
            <a:r>
              <a:rPr lang="en-US" sz="2100" dirty="0">
                <a:latin typeface="+mj-lt"/>
              </a:rPr>
              <a:t> and </a:t>
            </a:r>
            <a:r>
              <a:rPr lang="en-US" sz="2100" i="1" dirty="0">
                <a:latin typeface="+mj-lt"/>
              </a:rPr>
              <a:t>Potential Loyalist</a:t>
            </a:r>
            <a:r>
              <a:rPr lang="en-US" sz="2100" dirty="0">
                <a:latin typeface="+mj-lt"/>
              </a:rPr>
              <a:t> segments for revenue. Immediate focus should be on </a:t>
            </a:r>
            <a:r>
              <a:rPr lang="en-US" sz="2100" b="1" dirty="0">
                <a:latin typeface="+mj-lt"/>
              </a:rPr>
              <a:t>retaining At Risk customers</a:t>
            </a:r>
            <a:r>
              <a:rPr lang="en-US" sz="2100" dirty="0">
                <a:latin typeface="+mj-lt"/>
              </a:rPr>
              <a:t> and </a:t>
            </a:r>
            <a:r>
              <a:rPr lang="en-US" sz="2100" b="1" dirty="0">
                <a:latin typeface="+mj-lt"/>
              </a:rPr>
              <a:t>converting Potential Loyalists into Loyal Customers</a:t>
            </a:r>
            <a:r>
              <a:rPr lang="en-US" sz="2100" dirty="0">
                <a:latin typeface="+mj-lt"/>
              </a:rPr>
              <a:t>. Meanwhile, nurturing </a:t>
            </a:r>
            <a:r>
              <a:rPr lang="en-US" sz="2100" i="1" dirty="0">
                <a:latin typeface="+mj-lt"/>
              </a:rPr>
              <a:t>Champions</a:t>
            </a:r>
            <a:r>
              <a:rPr lang="en-US" sz="2100" dirty="0">
                <a:latin typeface="+mj-lt"/>
              </a:rPr>
              <a:t> and </a:t>
            </a:r>
            <a:r>
              <a:rPr lang="en-US" sz="2100" i="1" dirty="0">
                <a:latin typeface="+mj-lt"/>
              </a:rPr>
              <a:t>Big Spenders</a:t>
            </a:r>
            <a:r>
              <a:rPr lang="en-US" sz="2100" dirty="0">
                <a:latin typeface="+mj-lt"/>
              </a:rPr>
              <a:t> ensures sustained profitability and brand advocacy.</a:t>
            </a:r>
          </a:p>
        </p:txBody>
      </p:sp>
    </p:spTree>
    <p:extLst>
      <p:ext uri="{BB962C8B-B14F-4D97-AF65-F5344CB8AC3E}">
        <p14:creationId xmlns:p14="http://schemas.microsoft.com/office/powerpoint/2010/main" val="270469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Scatter plot: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Recency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vs Monetary by Segment</a:t>
            </a:r>
            <a:endParaRPr lang="en-IN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498" y="2160588"/>
            <a:ext cx="6321041" cy="3881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2142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Scatter plot: 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Recency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vs Monetary by Segment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800" b="1" dirty="0"/>
              <a:t>Champions</a:t>
            </a:r>
            <a:r>
              <a:rPr lang="en-US" sz="1800" dirty="0"/>
              <a:t> → Low </a:t>
            </a:r>
            <a:r>
              <a:rPr lang="en-US" sz="1800" dirty="0" err="1"/>
              <a:t>recency</a:t>
            </a:r>
            <a:r>
              <a:rPr lang="en-US" sz="1800" dirty="0"/>
              <a:t> (recent buyers), high monetary. Best customers.</a:t>
            </a:r>
          </a:p>
          <a:p>
            <a:r>
              <a:rPr lang="en-US" sz="1800" b="1" dirty="0"/>
              <a:t>Loyal Customers</a:t>
            </a:r>
            <a:r>
              <a:rPr lang="en-US" sz="1800" dirty="0"/>
              <a:t> → Moderate </a:t>
            </a:r>
            <a:r>
              <a:rPr lang="en-US" sz="1800" dirty="0" err="1"/>
              <a:t>recency</a:t>
            </a:r>
            <a:r>
              <a:rPr lang="en-US" sz="1800" dirty="0"/>
              <a:t>, steady monetary. Reliable revenue.</a:t>
            </a:r>
          </a:p>
          <a:p>
            <a:r>
              <a:rPr lang="en-US" sz="1800" b="1" dirty="0"/>
              <a:t>Potential Loyalists</a:t>
            </a:r>
            <a:r>
              <a:rPr lang="en-US" sz="1800" dirty="0"/>
              <a:t> → Low </a:t>
            </a:r>
            <a:r>
              <a:rPr lang="en-US" sz="1800" dirty="0" err="1"/>
              <a:t>recency</a:t>
            </a:r>
            <a:r>
              <a:rPr lang="en-US" sz="1800" dirty="0"/>
              <a:t> but lower spend. Opportunity to nurture.</a:t>
            </a:r>
          </a:p>
          <a:p>
            <a:r>
              <a:rPr lang="en-US" sz="1800" b="1" dirty="0"/>
              <a:t>At Risk</a:t>
            </a:r>
            <a:r>
              <a:rPr lang="en-US" sz="1800" dirty="0"/>
              <a:t> → High </a:t>
            </a:r>
            <a:r>
              <a:rPr lang="en-US" sz="1800" dirty="0" err="1"/>
              <a:t>recency</a:t>
            </a:r>
            <a:r>
              <a:rPr lang="en-US" sz="1800" dirty="0"/>
              <a:t> (haven’t purchased recently) but high monetary. Critical to re-engage.</a:t>
            </a:r>
          </a:p>
          <a:p>
            <a:r>
              <a:rPr lang="en-US" sz="1800" b="1" dirty="0"/>
              <a:t>Big Spenders</a:t>
            </a:r>
            <a:r>
              <a:rPr lang="en-US" sz="1800" dirty="0"/>
              <a:t> → High monetary, variable </a:t>
            </a:r>
            <a:r>
              <a:rPr lang="en-US" sz="1800" dirty="0" err="1"/>
              <a:t>recency</a:t>
            </a:r>
            <a:r>
              <a:rPr lang="en-US" sz="1800" dirty="0"/>
              <a:t>. Need VIP treatment.</a:t>
            </a:r>
          </a:p>
          <a:p>
            <a:r>
              <a:rPr lang="en-US" sz="1800" b="1" dirty="0"/>
              <a:t>Lost</a:t>
            </a:r>
            <a:r>
              <a:rPr lang="en-US" sz="1800" dirty="0"/>
              <a:t> → High </a:t>
            </a:r>
            <a:r>
              <a:rPr lang="en-US" sz="1800" dirty="0" err="1"/>
              <a:t>recency</a:t>
            </a:r>
            <a:r>
              <a:rPr lang="en-US" sz="1800" dirty="0"/>
              <a:t>, low monetary. Minimal ROI.</a:t>
            </a:r>
          </a:p>
          <a:p>
            <a:r>
              <a:rPr lang="en-US" sz="1800" b="1" dirty="0"/>
              <a:t>Others</a:t>
            </a:r>
            <a:r>
              <a:rPr lang="en-US" sz="1800" dirty="0"/>
              <a:t> → Mixed profiles, scattered across the plot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Strategic Takeaway: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sz="20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/>
              <a:t>Customers with </a:t>
            </a:r>
            <a:r>
              <a:rPr lang="en-US" sz="2000" b="1" dirty="0"/>
              <a:t>high spend but high </a:t>
            </a:r>
            <a:r>
              <a:rPr lang="en-US" sz="2000" b="1" dirty="0" err="1"/>
              <a:t>recency</a:t>
            </a:r>
            <a:r>
              <a:rPr lang="en-US" sz="2000" b="1" dirty="0"/>
              <a:t> (At Risk)</a:t>
            </a:r>
            <a:r>
              <a:rPr lang="en-US" sz="2000" dirty="0"/>
              <a:t> are the most urgent to target, while </a:t>
            </a:r>
            <a:r>
              <a:rPr lang="en-US" sz="2000" b="1" dirty="0"/>
              <a:t>Potential Loyalists</a:t>
            </a:r>
            <a:r>
              <a:rPr lang="en-US" sz="2000" dirty="0"/>
              <a:t> represent the biggest growth opportunity.</a:t>
            </a:r>
          </a:p>
        </p:txBody>
      </p:sp>
    </p:spTree>
    <p:extLst>
      <p:ext uri="{BB962C8B-B14F-4D97-AF65-F5344CB8AC3E}">
        <p14:creationId xmlns:p14="http://schemas.microsoft.com/office/powerpoint/2010/main" val="13507806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Dashboard-Style KPI Cards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3162629"/>
            <a:ext cx="8596312" cy="18773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280393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Dashboard-Style KPI Cards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1600" b="1" dirty="0"/>
              <a:t>₹ Revenue (~20M)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The company has generated strong overall revenue, reflecting healthy sales activity. This serves as the primary indicator of business scale and financial performance.</a:t>
            </a:r>
          </a:p>
          <a:p>
            <a:r>
              <a:rPr lang="en-US" sz="1600" b="1" dirty="0"/>
              <a:t>Unique Customers (~1,000)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The customer base is sizable, providing a solid foundation for segmentation and targeted marketing. Maintaining engagement across this base is critical for sustained growth.</a:t>
            </a:r>
          </a:p>
          <a:p>
            <a:r>
              <a:rPr lang="en-US" sz="1600" b="1" dirty="0"/>
              <a:t>Potential Loyalists (~250 customers)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This is the largest segment, representing customers with promising buying behavior. They are close to becoming Loyal Customers and should be nurtured with personalized offers and engagement strategies.</a:t>
            </a:r>
          </a:p>
          <a:p>
            <a:r>
              <a:rPr lang="en-US" sz="1600" b="1" dirty="0"/>
              <a:t>At Risk Customers (~200 customers)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/>
              <a:t>A significant portion of the customer base is at risk of churn. These customers contribute high revenue but show declining engagement, making retention campaigns essential to protect future earnings</a:t>
            </a:r>
            <a:r>
              <a:rPr lang="en-US" sz="1800" dirty="0" smtClean="0"/>
              <a:t>.</a:t>
            </a:r>
            <a:endParaRPr lang="en-US" sz="1800" dirty="0"/>
          </a:p>
          <a:p>
            <a:pPr marL="0" indent="0">
              <a:buNone/>
            </a:pPr>
            <a:r>
              <a:rPr lang="en-US" sz="1700" b="1" dirty="0">
                <a:solidFill>
                  <a:schemeClr val="accent1">
                    <a:lumMod val="50000"/>
                  </a:schemeClr>
                </a:solidFill>
              </a:rPr>
              <a:t>Strategic Takeaway:</a:t>
            </a:r>
            <a:r>
              <a:rPr lang="en-US" sz="1700" dirty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sz="17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700" dirty="0"/>
              <a:t>The KPIs highlight a balanced picture: strong revenue and a healthy customer base, but with clear opportunities and risks. The business should focus on </a:t>
            </a:r>
            <a:r>
              <a:rPr lang="en-US" sz="1700" b="1" dirty="0"/>
              <a:t>converting Potential Loyalists into Loyal Customers</a:t>
            </a:r>
            <a:r>
              <a:rPr lang="en-US" sz="1700" dirty="0"/>
              <a:t> to strengthen retention, while simultaneously </a:t>
            </a:r>
            <a:r>
              <a:rPr lang="en-US" sz="1700" b="1" dirty="0"/>
              <a:t>re‑engaging At Risk customers</a:t>
            </a:r>
            <a:r>
              <a:rPr lang="en-US" sz="1700" dirty="0"/>
              <a:t> to prevent revenue leakage. Together, these actions will maximize customer lifetime value and ensure sustainable growth.</a:t>
            </a:r>
          </a:p>
        </p:txBody>
      </p:sp>
    </p:spTree>
    <p:extLst>
      <p:ext uri="{BB962C8B-B14F-4D97-AF65-F5344CB8AC3E}">
        <p14:creationId xmlns:p14="http://schemas.microsoft.com/office/powerpoint/2010/main" val="2475362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RFM visualizations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2174"/>
            <a:ext cx="10515600" cy="34370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557962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168</TotalTime>
  <Words>542</Words>
  <Application>Microsoft Office PowerPoint</Application>
  <PresentationFormat>Widescreen</PresentationFormat>
  <Paragraphs>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Arial Unicode MS</vt:lpstr>
      <vt:lpstr>Trebuchet MS</vt:lpstr>
      <vt:lpstr>Wingdings 3</vt:lpstr>
      <vt:lpstr>Facet</vt:lpstr>
      <vt:lpstr>Exploratory Data Analysis (EDA)</vt:lpstr>
      <vt:lpstr>Customer Count by Gender</vt:lpstr>
      <vt:lpstr>Customer Count by City</vt:lpstr>
      <vt:lpstr>Correlation Heatmap</vt:lpstr>
      <vt:lpstr>Transaction Amount Distribution</vt:lpstr>
      <vt:lpstr>Monthly Sales Trend</vt:lpstr>
      <vt:lpstr>Customers Insights &amp; Sales Trends</vt:lpstr>
      <vt:lpstr>RFM visualizations </vt:lpstr>
      <vt:lpstr>Count of customers per segment  </vt:lpstr>
      <vt:lpstr>Count of customers per segment  </vt:lpstr>
      <vt:lpstr>Customer Segmentation Distribution (Donut Chart Analysis)</vt:lpstr>
      <vt:lpstr>Customer Segmentation Distribution (Donut Chart Analysis)</vt:lpstr>
      <vt:lpstr>Revenue contribution per segment</vt:lpstr>
      <vt:lpstr>Revenue contribution per segment</vt:lpstr>
      <vt:lpstr>Scatter plot: Recency vs Monetary by Segment</vt:lpstr>
      <vt:lpstr>Scatter plot: Recency vs Monetary by Segment</vt:lpstr>
      <vt:lpstr>Dashboard-Style KPI Cards</vt:lpstr>
      <vt:lpstr>Dashboard-Style KPI Cards</vt:lpstr>
      <vt:lpstr>RFM visualizations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(EDA)</dc:title>
  <dc:creator>Nandan Singh</dc:creator>
  <cp:lastModifiedBy>Nandan Singh</cp:lastModifiedBy>
  <cp:revision>14</cp:revision>
  <dcterms:created xsi:type="dcterms:W3CDTF">2026-04-22T08:29:46Z</dcterms:created>
  <dcterms:modified xsi:type="dcterms:W3CDTF">2026-04-26T08:42:55Z</dcterms:modified>
</cp:coreProperties>
</file>