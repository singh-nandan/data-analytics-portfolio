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6751" y="1240971"/>
            <a:ext cx="9507861" cy="998376"/>
          </a:xfrm>
        </p:spPr>
        <p:txBody>
          <a:bodyPr/>
          <a:lstStyle/>
          <a:p>
            <a:pPr algn="ctr"/>
            <a:r>
              <a:rPr lang="en-IN" dirty="0"/>
              <a:t> </a:t>
            </a:r>
            <a:r>
              <a:rPr lang="en-IN" b="1" dirty="0">
                <a:solidFill>
                  <a:schemeClr val="accent3"/>
                </a:solidFill>
              </a:rPr>
              <a:t>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2313993"/>
            <a:ext cx="8915399" cy="3589670"/>
          </a:xfrm>
        </p:spPr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Visualizations help identify: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Distribution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Outliers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Trends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9080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678" y="401216"/>
            <a:ext cx="3470987" cy="494523"/>
          </a:xfrm>
        </p:spPr>
        <p:txBody>
          <a:bodyPr/>
          <a:lstStyle/>
          <a:p>
            <a:r>
              <a:rPr lang="en-IN" b="1" dirty="0">
                <a:solidFill>
                  <a:schemeClr val="accent3"/>
                </a:solidFill>
              </a:rPr>
              <a:t>Age Distribution Insights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086" y="895739"/>
            <a:ext cx="5764537" cy="40501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08922" y="1026366"/>
            <a:ext cx="4310743" cy="541175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Central Tendency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Mean age ≈ 49.5 years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Median age ≈ 49.0 years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The closeness of mean and median indicates a fairly balanced distribution without strong skew.</a:t>
            </a:r>
          </a:p>
          <a:p>
            <a:r>
              <a:rPr lang="en-US" b="1" dirty="0"/>
              <a:t>Spread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Ages range widely (approx. 10–90 years), reflecting diverse demographics.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The distribution is concentrated around middle age, with fewer customers at the extremes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Business Implications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Middle-aged customers form the core segment — marketing strategies should prioritize this group.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Younger and older age brackets are smaller but may represent niche opportunities (e.g., youth-focused offers or senior benefits).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Balanced distribution suggests segmentation by age bands could yield actionable insights for personalization.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7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2694" y="446088"/>
            <a:ext cx="3901717" cy="97631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Monthly Spend Distribution Insights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133" y="1310574"/>
            <a:ext cx="5227480" cy="37186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09" y="1502229"/>
            <a:ext cx="4750804" cy="50292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Central Tendency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Mean spend = USD 331.6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Median spend = USD 282.1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The mean is noticeably higher than the median, indicating a </a:t>
            </a:r>
            <a:r>
              <a:rPr lang="en-US" b="1" dirty="0"/>
              <a:t>right-skewed distribution</a:t>
            </a:r>
            <a:r>
              <a:rPr lang="en-US" dirty="0"/>
              <a:t> — a few high-spending customers are pulling the average upward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Spread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Most customers spend between </a:t>
            </a:r>
            <a:r>
              <a:rPr lang="en-US" dirty="0" smtClean="0"/>
              <a:t>0-500</a:t>
            </a:r>
            <a:r>
              <a:rPr lang="en-US" dirty="0"/>
              <a:t>, with a peak </a:t>
            </a:r>
            <a:r>
              <a:rPr lang="en-US" dirty="0" smtClean="0"/>
              <a:t>around 200-250</a:t>
            </a:r>
            <a:r>
              <a:rPr lang="en-US" dirty="0"/>
              <a:t>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A smaller group spends significantly more, creating a long tail in the distribution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Business Implications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Majority of customers are </a:t>
            </a:r>
            <a:r>
              <a:rPr lang="en-US" b="1" dirty="0"/>
              <a:t>low-to-mid spenders</a:t>
            </a:r>
            <a:r>
              <a:rPr lang="en-US" dirty="0"/>
              <a:t>, forming the core revenue base.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High-spending customers, though fewer, contribute disproportionately to overall revenue — they represent a </a:t>
            </a:r>
            <a:r>
              <a:rPr lang="en-US" b="1" dirty="0"/>
              <a:t>premium segment</a:t>
            </a:r>
            <a:r>
              <a:rPr lang="en-US" dirty="0"/>
              <a:t> worth nurturing.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Skewness suggests opportunities for </a:t>
            </a:r>
            <a:r>
              <a:rPr lang="en-US" b="1" dirty="0"/>
              <a:t>tiered loyalty programs</a:t>
            </a:r>
            <a:r>
              <a:rPr lang="en-US" dirty="0"/>
              <a:t> or differentiated offers to maximize value across segments.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09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89307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Age Distribution — Boxplot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997" y="1339164"/>
            <a:ext cx="5166808" cy="33302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0" y="1598613"/>
            <a:ext cx="3808411" cy="45689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Median Age (~50 years):</a:t>
            </a:r>
            <a:r>
              <a:rPr lang="en-US" dirty="0"/>
              <a:t> The central line indicates that half of the population is younger than 50, while the other half is older.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Interquartile Range (IQR ~35–65 years):</a:t>
            </a:r>
            <a:r>
              <a:rPr lang="en-US" dirty="0"/>
              <a:t> Most individuals fall within this middle spread, showing the typical age range of the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Whiskers (~18–80 years):</a:t>
            </a:r>
            <a:r>
              <a:rPr lang="en-US" dirty="0"/>
              <a:t> These extend to the minimum and maximum non-outlier values, highlighting the broader age span.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Outliers:</a:t>
            </a:r>
            <a:r>
              <a:rPr lang="en-US" dirty="0"/>
              <a:t> Any points beyond the whiskers suggest unusually young or old individuals compared to the majority.</a:t>
            </a:r>
          </a:p>
        </p:txBody>
      </p:sp>
    </p:spTree>
    <p:extLst>
      <p:ext uri="{BB962C8B-B14F-4D97-AF65-F5344CB8AC3E}">
        <p14:creationId xmlns:p14="http://schemas.microsoft.com/office/powerpoint/2010/main" val="70963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Monthly Spend — Boxplot Insight</a:t>
            </a:r>
            <a:br>
              <a:rPr lang="en-IN" b="1" dirty="0">
                <a:solidFill>
                  <a:schemeClr val="accent3"/>
                </a:solidFill>
              </a:rPr>
            </a:br>
            <a:endParaRPr lang="en-IN" b="1" dirty="0">
              <a:solidFill>
                <a:schemeClr val="accent3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3" y="1082351"/>
            <a:ext cx="5181600" cy="43107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3363" y="1598613"/>
            <a:ext cx="3911049" cy="4792856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Median Spend (~300):</a:t>
            </a:r>
            <a:r>
              <a:rPr lang="en-US" dirty="0"/>
              <a:t> Indicates that half of the customers spend below $</a:t>
            </a:r>
            <a:r>
              <a:rPr lang="en-US" dirty="0" smtClean="0"/>
              <a:t>300 </a:t>
            </a:r>
            <a:r>
              <a:rPr lang="en-US" dirty="0"/>
              <a:t>monthly, while the other half spend more.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IQR (Interquartile Range &lt;500):</a:t>
            </a:r>
            <a:r>
              <a:rPr lang="en-US" dirty="0"/>
              <a:t> Most customers fall within this range, showing a concentrated spending pattern among the majority.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Outliers (up to ~1750):</a:t>
            </a:r>
            <a:r>
              <a:rPr lang="en-US" dirty="0"/>
              <a:t> A few customers spend significantly higher amounts, representing premium or high-value segments.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Distribution Shape:</a:t>
            </a:r>
            <a:r>
              <a:rPr lang="en-US" dirty="0"/>
              <a:t> The presence of multiple outliers and a long upper whisker suggests a </a:t>
            </a:r>
            <a:r>
              <a:rPr lang="en-US" b="1" dirty="0"/>
              <a:t>right-skewed distribution</a:t>
            </a:r>
            <a:r>
              <a:rPr lang="en-US" dirty="0"/>
              <a:t>, meaning a small group drives higher revenue.</a:t>
            </a:r>
          </a:p>
        </p:txBody>
      </p:sp>
    </p:spTree>
    <p:extLst>
      <p:ext uri="{BB962C8B-B14F-4D97-AF65-F5344CB8AC3E}">
        <p14:creationId xmlns:p14="http://schemas.microsoft.com/office/powerpoint/2010/main" val="188050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4034" y="317241"/>
            <a:ext cx="3920378" cy="110515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Gender Distribution — Analytical Insight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2" y="1063690"/>
            <a:ext cx="5653907" cy="38575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5454" y="1598612"/>
            <a:ext cx="4218958" cy="480218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Male (~3700):</a:t>
            </a:r>
            <a:r>
              <a:rPr lang="en-US" dirty="0"/>
              <a:t> Largest segment, slightly higher than other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Non-Binary (~3500):</a:t>
            </a:r>
            <a:r>
              <a:rPr lang="en-US" dirty="0"/>
              <a:t> Strong representation, nearly equal to female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Female (~3400):</a:t>
            </a:r>
            <a:r>
              <a:rPr lang="en-US" dirty="0"/>
              <a:t> Slightly lower but still a significant proportion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Key Observations: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dataset shows a </a:t>
            </a:r>
            <a:r>
              <a:rPr lang="en-US" b="1" dirty="0"/>
              <a:t>balanced distribution</a:t>
            </a:r>
            <a:r>
              <a:rPr lang="en-US" dirty="0"/>
              <a:t> across genders, with no single group overwhelmingly dominant.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presence of a substantial </a:t>
            </a:r>
            <a:r>
              <a:rPr lang="en-US" b="1" dirty="0"/>
              <a:t>non-binary segment</a:t>
            </a:r>
            <a:r>
              <a:rPr lang="en-US" dirty="0"/>
              <a:t> indicates inclusivity and diversity in the customer base.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Differences between categories are relatively small, suggesting that </a:t>
            </a:r>
            <a:r>
              <a:rPr lang="en-US" b="1" dirty="0"/>
              <a:t>gender-based segmentation alone may not be a strong differentiator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92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2024" y="373224"/>
            <a:ext cx="3517641" cy="839756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Education Distribution — Analytical Insight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168" y="979714"/>
            <a:ext cx="5981541" cy="38348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4278" y="1408922"/>
            <a:ext cx="4385388" cy="4954556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Master (21.26%)</a:t>
            </a:r>
            <a:r>
              <a:rPr lang="en-US" sz="1200" dirty="0"/>
              <a:t> → Largest segment, indicating a strong presence of highly educated individuals.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Associate (20.17%) &amp; Bachelor (19.93%)</a:t>
            </a:r>
            <a:r>
              <a:rPr lang="en-US" sz="1200" dirty="0"/>
              <a:t> → Together form nearly 40% of the base, representing mid-level education groups.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High School (19.86%)</a:t>
            </a:r>
            <a:r>
              <a:rPr lang="en-US" sz="1200" dirty="0"/>
              <a:t> → Comparable to Bachelor, showing balanced representation of foundational education.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PhD (18.79%)</a:t>
            </a:r>
            <a:r>
              <a:rPr lang="en-US" sz="1200" dirty="0"/>
              <a:t> → Smallest group, but still significant, highlighting advanced academic achievers</a:t>
            </a:r>
            <a:r>
              <a:rPr lang="en-US" sz="1200" dirty="0" smtClean="0"/>
              <a:t>.</a:t>
            </a:r>
            <a:endParaRPr lang="en-US" sz="1200" dirty="0"/>
          </a:p>
          <a:p>
            <a:r>
              <a:rPr lang="en-US" b="1" dirty="0"/>
              <a:t>Key Observations: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distribution is </a:t>
            </a:r>
            <a:r>
              <a:rPr lang="en-US" b="1" dirty="0"/>
              <a:t>fairly balanced</a:t>
            </a:r>
            <a:r>
              <a:rPr lang="en-US" dirty="0"/>
              <a:t> across all categories, with no extreme dominance.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slight skew toward </a:t>
            </a:r>
            <a:r>
              <a:rPr lang="en-US" b="1" dirty="0"/>
              <a:t>Master’s degree holders</a:t>
            </a:r>
            <a:r>
              <a:rPr lang="en-US" dirty="0"/>
              <a:t> suggests a customer base with higher education attainment.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presence of substantial </a:t>
            </a:r>
            <a:r>
              <a:rPr lang="en-US" b="1" dirty="0"/>
              <a:t>PhD and High School segments</a:t>
            </a:r>
            <a:r>
              <a:rPr lang="en-US" dirty="0"/>
              <a:t> indicates diversity in educational backgrounds.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536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09" y="233266"/>
            <a:ext cx="3713584" cy="109168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Top 10 States — Customer Distribution Insight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947" y="1175657"/>
            <a:ext cx="6245397" cy="38255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95536" y="1539551"/>
            <a:ext cx="3918858" cy="43853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California (1180)</a:t>
            </a:r>
            <a:r>
              <a:rPr lang="en-US" dirty="0"/>
              <a:t> → Largest customer base, a key market for targeted campaigns.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Florida (1152) &amp; Ohio (1145)</a:t>
            </a:r>
            <a:r>
              <a:rPr lang="en-US" dirty="0"/>
              <a:t> → Strong presence, nearly equal to California, forming secondary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Arizona (1087), New York (1085), Georgia (1080)</a:t>
            </a:r>
            <a:r>
              <a:rPr lang="en-US" dirty="0"/>
              <a:t> → Mid-tier states with consistent customer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Washington (1030) &amp; Colorado (1014)</a:t>
            </a:r>
            <a:r>
              <a:rPr lang="en-US" dirty="0"/>
              <a:t> → Solid representation, potential for regional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Texas (997)</a:t>
            </a:r>
            <a:r>
              <a:rPr lang="en-US" dirty="0"/>
              <a:t> → Slightly below 1000, still a significant contributor.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Illinois (905)</a:t>
            </a:r>
            <a:r>
              <a:rPr lang="en-US" dirty="0"/>
              <a:t> → Lowest among the top 10 but remains an important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14225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3"/>
                </a:solidFill>
              </a:rPr>
              <a:t>Top 10 States — Customer Distribution Insight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240971"/>
            <a:ext cx="8915400" cy="46702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Observations: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distribution is </a:t>
            </a:r>
            <a:r>
              <a:rPr lang="en-US" b="1" dirty="0"/>
              <a:t>fairly balanced</a:t>
            </a:r>
            <a:r>
              <a:rPr lang="en-US" dirty="0"/>
              <a:t>, with most top states contributing ~900–1200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California leads</a:t>
            </a:r>
            <a:r>
              <a:rPr lang="en-US" dirty="0"/>
              <a:t>, but the margin over Florida and Ohio is small, suggesting multiple strong markets rather than a single dominant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spread across diverse regions (West, South, Midwest, East) indicates </a:t>
            </a:r>
            <a:r>
              <a:rPr lang="en-US" b="1" dirty="0"/>
              <a:t>broad geographic coverage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Business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marketing and customer engagement strategies on </a:t>
            </a:r>
            <a:r>
              <a:rPr lang="en-US" b="1" dirty="0"/>
              <a:t>California, Florida, and Ohio</a:t>
            </a:r>
            <a:r>
              <a:rPr lang="en-US" dirty="0"/>
              <a:t> as primary growth drivers.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 strong regional campaigns in </a:t>
            </a:r>
            <a:r>
              <a:rPr lang="en-US" b="1" dirty="0"/>
              <a:t>Arizona, New York, and Georgia</a:t>
            </a:r>
            <a:r>
              <a:rPr lang="en-US" dirty="0"/>
              <a:t> to leverage mid-tier markets.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opportunities to </a:t>
            </a:r>
            <a:r>
              <a:rPr lang="en-US" b="1" dirty="0"/>
              <a:t>boost presence in Illinois and Texas</a:t>
            </a:r>
            <a:r>
              <a:rPr lang="en-US" dirty="0"/>
              <a:t>, where customer counts are slightly lower but still significant.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36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107" y="261257"/>
            <a:ext cx="3265714" cy="96105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Age vs Monthly Spend — Analytical Insight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046" y="1035698"/>
            <a:ext cx="6255797" cy="4049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3649" y="1315616"/>
            <a:ext cx="4338735" cy="5225143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Correlation (-0.01):</a:t>
            </a:r>
            <a:r>
              <a:rPr lang="en-US" dirty="0"/>
              <a:t> The near-zero value indicates </a:t>
            </a:r>
            <a:r>
              <a:rPr lang="en-US" b="1" dirty="0"/>
              <a:t>no meaningful relationship</a:t>
            </a:r>
            <a:r>
              <a:rPr lang="en-US" dirty="0"/>
              <a:t> between age and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Trend Line:</a:t>
            </a:r>
            <a:r>
              <a:rPr lang="en-US" dirty="0"/>
              <a:t> The regression line is almost flat, confirming that spending patterns are </a:t>
            </a:r>
            <a:r>
              <a:rPr lang="en-US" b="1" dirty="0"/>
              <a:t>independent of age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Spread:</a:t>
            </a:r>
            <a:r>
              <a:rPr lang="en-US" dirty="0"/>
              <a:t> Spending values are widely distributed across all age groups, with both younger and older customers showing similar variability.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Outliers:</a:t>
            </a:r>
            <a:r>
              <a:rPr lang="en-US" dirty="0"/>
              <a:t> High spenders appear across different ages, suggesting that premium customers are not concentrated in any specific age bracket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Key Observations: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Age does not drive monthly spending behavior — customers of all ages exhibit similar spending ranges.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High-value customers are scattered across age groups, meaning </a:t>
            </a:r>
            <a:r>
              <a:rPr lang="en-US" b="1" dirty="0"/>
              <a:t>age-based segmentation alone is insufficient</a:t>
            </a:r>
            <a:r>
              <a:rPr lang="en-US" dirty="0"/>
              <a:t> for targeting premium spenders.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37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050" y="382555"/>
            <a:ext cx="3741574" cy="6997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Spending Behavior by Marital Status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49" y="1082351"/>
            <a:ext cx="6072194" cy="39001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6955" y="1082350"/>
            <a:ext cx="4562670" cy="523447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Average Spend: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Married → USD332.35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 Married → USD330.94</a:t>
            </a:r>
            <a:br>
              <a:rPr lang="en-US" dirty="0"/>
            </a:br>
            <a:r>
              <a:rPr lang="en-US" dirty="0"/>
              <a:t>The averages are nearly identical, showing </a:t>
            </a:r>
            <a:r>
              <a:rPr lang="en-US" b="1" dirty="0"/>
              <a:t>no significant difference</a:t>
            </a:r>
            <a:r>
              <a:rPr lang="en-US" dirty="0"/>
              <a:t> in spending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Distribution Shape:</a:t>
            </a:r>
            <a:r>
              <a:rPr lang="en-US" dirty="0"/>
              <a:t> Both groups peak around USD250 monthly spend, with similar spread and tapering at higher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Overlap:</a:t>
            </a:r>
            <a:r>
              <a:rPr lang="en-US" dirty="0"/>
              <a:t> The curves overlap almost entirely, indicating that marital status does not strongly influence spending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Key Observations: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Spending behavior is </a:t>
            </a:r>
            <a:r>
              <a:rPr lang="en-US" b="1" dirty="0"/>
              <a:t>consistent across marital status</a:t>
            </a:r>
            <a:r>
              <a:rPr lang="en-US" dirty="0"/>
              <a:t> groups.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 spenders exist in both categories, suggesting premium customers are not concentrated in one group.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Marital status is </a:t>
            </a:r>
            <a:r>
              <a:rPr lang="en-US" b="1" dirty="0"/>
              <a:t>not a strong predictor</a:t>
            </a:r>
            <a:r>
              <a:rPr lang="en-US" dirty="0"/>
              <a:t> of monthly spend.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08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2789854"/>
            <a:ext cx="8911687" cy="180080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 </a:t>
            </a:r>
            <a:r>
              <a:rPr lang="en-IN" sz="8800" b="1" dirty="0">
                <a:solidFill>
                  <a:schemeClr val="accent3"/>
                </a:solidFill>
              </a:rPr>
              <a:t>Bivariate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3183855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73224"/>
            <a:ext cx="3517641" cy="65314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Correlation Matrix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405" y="1110343"/>
            <a:ext cx="5831440" cy="4319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5372" y="1110344"/>
            <a:ext cx="3648270" cy="47399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 vs Monthly Spend (-0.01):</a:t>
            </a:r>
            <a:r>
              <a:rPr lang="en-US" dirty="0"/>
              <a:t> No meaningful correlation; spending is independent of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 vs </a:t>
            </a:r>
            <a:r>
              <a:rPr lang="en-US" b="1" dirty="0" err="1"/>
              <a:t>NumPets</a:t>
            </a:r>
            <a:r>
              <a:rPr lang="en-US" b="1" dirty="0"/>
              <a:t> (-0.02):</a:t>
            </a:r>
            <a:r>
              <a:rPr lang="en-US" dirty="0"/>
              <a:t> Negligible relationship; pet ownership does not vary with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NumPets</a:t>
            </a:r>
            <a:r>
              <a:rPr lang="en-US" b="1" dirty="0"/>
              <a:t> vs Monthly Spend (0.02):</a:t>
            </a:r>
            <a:r>
              <a:rPr lang="en-US" dirty="0"/>
              <a:t> Very weak positive correlation; owning more pets does not significantly increase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NumPets</a:t>
            </a:r>
            <a:r>
              <a:rPr lang="en-US" b="1" dirty="0"/>
              <a:t> vs Days Since Last Interaction (-0.06):</a:t>
            </a:r>
            <a:r>
              <a:rPr lang="en-US" dirty="0"/>
              <a:t> Slight negative correlation; customers with more pets may interact marginally more frequently.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Monthly Spend vs Days Since Last Interaction (0.01):</a:t>
            </a:r>
            <a:r>
              <a:rPr lang="en-US" dirty="0"/>
              <a:t> No significant relationship; spending is not tied to </a:t>
            </a:r>
            <a:r>
              <a:rPr lang="en-US" dirty="0" err="1"/>
              <a:t>recency</a:t>
            </a:r>
            <a:r>
              <a:rPr lang="en-US" dirty="0"/>
              <a:t> of interaction.</a:t>
            </a:r>
          </a:p>
        </p:txBody>
      </p:sp>
    </p:spTree>
    <p:extLst>
      <p:ext uri="{BB962C8B-B14F-4D97-AF65-F5344CB8AC3E}">
        <p14:creationId xmlns:p14="http://schemas.microsoft.com/office/powerpoint/2010/main" val="205791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0611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Correlation Matrix — Analytical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30220"/>
            <a:ext cx="8915400" cy="43810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Observations: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correlations are </a:t>
            </a:r>
            <a:r>
              <a:rPr lang="en-US" b="1" dirty="0"/>
              <a:t>close to zero</a:t>
            </a:r>
            <a:r>
              <a:rPr lang="en-US" dirty="0"/>
              <a:t>, indicating that these variables are largely independent.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strong linear relationships exist, meaning predictive models should not rely on these variables alone.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Behavioral and transactional features (e.g., frequency of purchases, product categories) may provide stronger signals than demographic attributes.</a:t>
            </a:r>
          </a:p>
          <a:p>
            <a:pPr marL="0" indent="0">
              <a:buNone/>
            </a:pPr>
            <a:r>
              <a:rPr lang="en-US" b="1" dirty="0"/>
              <a:t>Business 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Since demographic factors (age, pets) and interaction </a:t>
            </a:r>
            <a:r>
              <a:rPr lang="en-US" dirty="0" err="1"/>
              <a:t>recency</a:t>
            </a:r>
            <a:r>
              <a:rPr lang="en-US" dirty="0"/>
              <a:t> show minimal correlation with spending, segmentation strategies should focus on </a:t>
            </a:r>
            <a:r>
              <a:rPr lang="en-US" b="1" dirty="0"/>
              <a:t>behavioral drivers</a:t>
            </a:r>
            <a:r>
              <a:rPr lang="en-US" dirty="0"/>
              <a:t>. Advanced techniques like clustering or RFM (</a:t>
            </a:r>
            <a:r>
              <a:rPr lang="en-US" dirty="0" err="1"/>
              <a:t>Recency</a:t>
            </a:r>
            <a:r>
              <a:rPr lang="en-US" dirty="0"/>
              <a:t>, Frequency, Monetary) analysis may yield more actionable insights than relying on simple correlations.</a:t>
            </a:r>
          </a:p>
        </p:txBody>
      </p:sp>
    </p:spTree>
    <p:extLst>
      <p:ext uri="{BB962C8B-B14F-4D97-AF65-F5344CB8AC3E}">
        <p14:creationId xmlns:p14="http://schemas.microsoft.com/office/powerpoint/2010/main" val="1388863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8132" y="335902"/>
            <a:ext cx="3881533" cy="61582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</a:rPr>
              <a:t>Gender vs Marital Status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413" y="1073019"/>
            <a:ext cx="6084774" cy="42081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3568" y="1175657"/>
            <a:ext cx="4236098" cy="503853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Female:</a:t>
            </a:r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/>
              <a:t>Not Married → 1797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/>
              <a:t>Married → 1616</a:t>
            </a:r>
            <a:br>
              <a:rPr lang="en-US" dirty="0"/>
            </a:br>
            <a:r>
              <a:rPr lang="en-US" dirty="0"/>
              <a:t>Slightly more females are unmarried, showing a modest gap.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Male:</a:t>
            </a:r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/>
              <a:t>Not Married → 1892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/>
              <a:t>Married → 1899</a:t>
            </a:r>
            <a:br>
              <a:rPr lang="en-US" dirty="0"/>
            </a:br>
            <a:r>
              <a:rPr lang="en-US" dirty="0"/>
              <a:t>Counts are nearly equal, indicating balanced representation.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Non-Binary:</a:t>
            </a:r>
            <a:endParaRPr lang="en-US" dirty="0"/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/>
              <a:t>Not Married → 1894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/>
              <a:t>Married → 1577</a:t>
            </a:r>
            <a:br>
              <a:rPr lang="en-US" dirty="0"/>
            </a:br>
            <a:r>
              <a:rPr lang="en-US" dirty="0"/>
              <a:t>Noticeable difference, with more individuals identifying as non-binary being unmarried.</a:t>
            </a:r>
          </a:p>
        </p:txBody>
      </p:sp>
    </p:spTree>
    <p:extLst>
      <p:ext uri="{BB962C8B-B14F-4D97-AF65-F5344CB8AC3E}">
        <p14:creationId xmlns:p14="http://schemas.microsoft.com/office/powerpoint/2010/main" val="2418047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3815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solidFill>
                  <a:schemeClr val="accent3"/>
                </a:solidFill>
              </a:rPr>
              <a:t>Gender vs Marital Status — Analytical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64906"/>
            <a:ext cx="8915400" cy="44463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Key Observations: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Males</a:t>
            </a:r>
            <a:r>
              <a:rPr lang="en-US" dirty="0"/>
              <a:t> show the most balanced split between married and unmarried.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Females and Non-Binary groups</a:t>
            </a:r>
            <a:r>
              <a:rPr lang="en-US" dirty="0"/>
              <a:t> lean toward being unmarried, though the difference is not extreme.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Overall, marital status distribution is relatively balanced across genders, with no overwhelming skew.</a:t>
            </a:r>
          </a:p>
          <a:p>
            <a:pPr marL="0" indent="0">
              <a:buNone/>
            </a:pPr>
            <a:r>
              <a:rPr lang="en-US" b="1" dirty="0"/>
              <a:t>Business 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Marital status does not drastically differ across genders, but slight variations exist.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Campaigns targeting </a:t>
            </a:r>
            <a:r>
              <a:rPr lang="en-US" b="1" dirty="0"/>
              <a:t>family-oriented products/services</a:t>
            </a:r>
            <a:r>
              <a:rPr lang="en-US" dirty="0"/>
              <a:t> may resonate more with married males.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Lifestyle or independent offerings</a:t>
            </a:r>
            <a:r>
              <a:rPr lang="en-US" dirty="0"/>
              <a:t> could be positioned toward unmarried females and non-binary customers.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Inclusive strategies should ensure messaging reflects both married and unmarried segments across all genders.</a:t>
            </a:r>
          </a:p>
        </p:txBody>
      </p:sp>
    </p:spTree>
    <p:extLst>
      <p:ext uri="{BB962C8B-B14F-4D97-AF65-F5344CB8AC3E}">
        <p14:creationId xmlns:p14="http://schemas.microsoft.com/office/powerpoint/2010/main" val="74987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050" y="335902"/>
            <a:ext cx="3788228" cy="101703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Average Monthly Spend by State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538" y="858417"/>
            <a:ext cx="5987909" cy="40774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8051" y="1511559"/>
            <a:ext cx="3788228" cy="427342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Arizona (USD341.49)</a:t>
            </a:r>
            <a:r>
              <a:rPr lang="en-IN" dirty="0"/>
              <a:t> → Highest average spend, indicating a premium market.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Ohio (USD340.19) &amp; California (USD339.18)</a:t>
            </a:r>
            <a:r>
              <a:rPr lang="en-IN" dirty="0"/>
              <a:t> → Close behind Arizona, strong high-value markets.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Illinois (USD332.59) &amp; New York (USD332.15)</a:t>
            </a:r>
            <a:r>
              <a:rPr lang="en-IN" dirty="0"/>
              <a:t> → Mid-tier but still above USD330 average spend.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Washington (USD329.44), Georgia (USD328.35), Florida (USD327.70)</a:t>
            </a:r>
            <a:r>
              <a:rPr lang="en-IN" dirty="0"/>
              <a:t> → Consistent spending levels, slightly lower but stable.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Colorado (USD323.08) &amp; Texas (USD319.51)</a:t>
            </a:r>
            <a:r>
              <a:rPr lang="en-IN" dirty="0"/>
              <a:t> → Lowest among the top 10, yet still significant contributors.</a:t>
            </a:r>
          </a:p>
        </p:txBody>
      </p:sp>
    </p:spTree>
    <p:extLst>
      <p:ext uri="{BB962C8B-B14F-4D97-AF65-F5344CB8AC3E}">
        <p14:creationId xmlns:p14="http://schemas.microsoft.com/office/powerpoint/2010/main" val="122184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Average Monthly Spend by State — Analytical Insight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Key Observations: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Spending differences across states are </a:t>
            </a:r>
            <a:r>
              <a:rPr lang="en-US" b="1" dirty="0"/>
              <a:t>relatively small</a:t>
            </a:r>
            <a:r>
              <a:rPr lang="en-US" dirty="0"/>
              <a:t>, clustered between USD319–USD341.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Arizona leads</a:t>
            </a:r>
            <a:r>
              <a:rPr lang="en-US" dirty="0"/>
              <a:t>, but Ohio and California are nearly equal, suggesting multiple strong premium markets.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spread shows </a:t>
            </a:r>
            <a:r>
              <a:rPr lang="en-US" b="1" dirty="0"/>
              <a:t>broad regional spending power</a:t>
            </a:r>
            <a:r>
              <a:rPr lang="en-US" dirty="0"/>
              <a:t>, not concentrated in one state.</a:t>
            </a:r>
          </a:p>
          <a:p>
            <a:pPr marL="0" indent="0">
              <a:buNone/>
            </a:pPr>
            <a:r>
              <a:rPr lang="en-US" b="1" dirty="0"/>
              <a:t>Business Insight: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Prioritize </a:t>
            </a:r>
            <a:r>
              <a:rPr lang="en-US" b="1" dirty="0"/>
              <a:t>Arizona, Ohio, and California</a:t>
            </a:r>
            <a:r>
              <a:rPr lang="en-US" dirty="0"/>
              <a:t> for premium product launches or high-value campaigns.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Maintain strong engagement in </a:t>
            </a:r>
            <a:r>
              <a:rPr lang="en-US" b="1" dirty="0"/>
              <a:t>Illinois and New York</a:t>
            </a:r>
            <a:r>
              <a:rPr lang="en-US" dirty="0"/>
              <a:t>, which show solid mid-tier spending.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Explore opportunities to </a:t>
            </a:r>
            <a:r>
              <a:rPr lang="en-US" b="1" dirty="0"/>
              <a:t>boost spending in Texas and Colorado</a:t>
            </a:r>
            <a:r>
              <a:rPr lang="en-US" dirty="0"/>
              <a:t>, where averages are slightly lower but customer bases remain large.</a:t>
            </a:r>
          </a:p>
        </p:txBody>
      </p:sp>
    </p:spTree>
    <p:extLst>
      <p:ext uri="{BB962C8B-B14F-4D97-AF65-F5344CB8AC3E}">
        <p14:creationId xmlns:p14="http://schemas.microsoft.com/office/powerpoint/2010/main" val="384248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718" y="363894"/>
            <a:ext cx="3573625" cy="101703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Average Monthly Spend by Education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474" y="1129005"/>
            <a:ext cx="6041757" cy="3974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718" y="1558213"/>
            <a:ext cx="3573625" cy="426409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Master (USD334.25)</a:t>
            </a:r>
            <a:r>
              <a:rPr lang="en-US" sz="1600" dirty="0"/>
              <a:t> → Highest average spend, indicating stronger purchasing power.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High School (USD332.22)</a:t>
            </a:r>
            <a:r>
              <a:rPr lang="en-US" sz="1600" dirty="0"/>
              <a:t> → Surprisingly close to Master, showing that spending is not strictly tied to higher education.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Bachelor (USD331.88) &amp; PhD (USD331.69)</a:t>
            </a:r>
            <a:r>
              <a:rPr lang="en-US" sz="1600" dirty="0"/>
              <a:t> → Mid-range spenders, nearly identical averages.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Associate (USD327.88)</a:t>
            </a:r>
            <a:r>
              <a:rPr lang="en-US" sz="1600" dirty="0"/>
              <a:t> → Lowest average spend, though only marginally below other groups</a:t>
            </a:r>
          </a:p>
        </p:txBody>
      </p:sp>
    </p:spTree>
    <p:extLst>
      <p:ext uri="{BB962C8B-B14F-4D97-AF65-F5344CB8AC3E}">
        <p14:creationId xmlns:p14="http://schemas.microsoft.com/office/powerpoint/2010/main" val="2005130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Average Monthly Spend by Education — Analytical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133599"/>
            <a:ext cx="9675812" cy="40059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Key Observations: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Spending differences across education levels are </a:t>
            </a:r>
            <a:r>
              <a:rPr lang="en-US" b="1" dirty="0"/>
              <a:t>minimal</a:t>
            </a:r>
            <a:r>
              <a:rPr lang="en-US" dirty="0"/>
              <a:t>, clustered between USD327–USD334.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Master’s degree holders</a:t>
            </a:r>
            <a:r>
              <a:rPr lang="en-US" dirty="0"/>
              <a:t> lead slightly, but the gap is not large enough to suggest strong education-based segmentation.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closeness of High School and advanced degrees (PhD, Master) highlights that </a:t>
            </a:r>
            <a:r>
              <a:rPr lang="en-US" b="1" dirty="0"/>
              <a:t>education level is not a major driver of spending behavior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Business 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Marketing strategies should not rely heavily on education segmentation, as spending patterns are broadly consistent. Instead: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Premium campaigns</a:t>
            </a:r>
            <a:r>
              <a:rPr lang="en-US" dirty="0"/>
              <a:t> can target Master’s degree holders, but also include High School customers who show comparable spending.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Broad-based offers</a:t>
            </a:r>
            <a:r>
              <a:rPr lang="en-US" dirty="0"/>
              <a:t> are effective across all education levels, since differences are marginal.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Focus on </a:t>
            </a:r>
            <a:r>
              <a:rPr lang="en-US" b="1" dirty="0"/>
              <a:t>behavioral and lifestyle attributes</a:t>
            </a:r>
            <a:r>
              <a:rPr lang="en-US" dirty="0"/>
              <a:t> (e.g., product preferences, frequency of purchases) for sharper segmentation.</a:t>
            </a:r>
          </a:p>
        </p:txBody>
      </p:sp>
    </p:spTree>
    <p:extLst>
      <p:ext uri="{BB962C8B-B14F-4D97-AF65-F5344CB8AC3E}">
        <p14:creationId xmlns:p14="http://schemas.microsoft.com/office/powerpoint/2010/main" val="12305531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136</TotalTime>
  <Words>329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Wingdings</vt:lpstr>
      <vt:lpstr>Wingdings 3</vt:lpstr>
      <vt:lpstr>Wisp</vt:lpstr>
      <vt:lpstr> Data Visualization</vt:lpstr>
      <vt:lpstr>Age Distribution Insights</vt:lpstr>
      <vt:lpstr>Monthly Spend Distribution Insights</vt:lpstr>
      <vt:lpstr>Age Distribution — Boxplot Analysis</vt:lpstr>
      <vt:lpstr>Monthly Spend — Boxplot Insight </vt:lpstr>
      <vt:lpstr>Gender Distribution — Analytical Insight</vt:lpstr>
      <vt:lpstr>Education Distribution — Analytical Insight</vt:lpstr>
      <vt:lpstr>Top 10 States — Customer Distribution Insight</vt:lpstr>
      <vt:lpstr>Top 10 States — Customer Distribution Insight</vt:lpstr>
      <vt:lpstr>Age vs Monthly Spend — Analytical Insight</vt:lpstr>
      <vt:lpstr>Spending Behavior by Marital Status</vt:lpstr>
      <vt:lpstr> Bivariate Analysis</vt:lpstr>
      <vt:lpstr>Correlation Matrix</vt:lpstr>
      <vt:lpstr>Correlation Matrix — Analytical Insight</vt:lpstr>
      <vt:lpstr>Gender vs Marital Status</vt:lpstr>
      <vt:lpstr>Gender vs Marital Status — Analytical Insight</vt:lpstr>
      <vt:lpstr>Average Monthly Spend by State</vt:lpstr>
      <vt:lpstr>Average Monthly Spend by State — Analytical Insight</vt:lpstr>
      <vt:lpstr>Average Monthly Spend by Education</vt:lpstr>
      <vt:lpstr>Average Monthly Spend by Education — Analytical Insight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Nandan Singh</dc:creator>
  <cp:lastModifiedBy>Nandan Singh</cp:lastModifiedBy>
  <cp:revision>15</cp:revision>
  <dcterms:created xsi:type="dcterms:W3CDTF">2026-06-12T07:43:02Z</dcterms:created>
  <dcterms:modified xsi:type="dcterms:W3CDTF">2026-06-15T05:55:51Z</dcterms:modified>
</cp:coreProperties>
</file>